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Times New Roman"/>
              </a:rPr>
              <a:t>Министерство просвещения Российской Федерации
ФГБОУ ВО «Благовещенский государственный педагогический университет»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Times New Roman"/>
              </a:rPr>
              <a:t>РАЗРАБОТКА КРОССПЛАТФОРМЕННОГО ПРИЛОЖЕНИЯ
С ВЕБ-ПАНЕЛЬЮ АДМИНИСТРАТОРА
ДЛЯ АВТОМАТИЗАЦИИ ВЫЗОВА
СПЕЦИАЛИЗИРОВАННОГО ТРАНСПОРТА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Times New Roman"/>
              </a:rPr>
              <a:t>Выпускная квалификационная бакалаврская работа
направление 02.03.03 — Математическое обеспечение и администрирование информационных систем
профиль «Технология программирования»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6052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Times New Roman"/>
              </a:rPr>
              <a:t>Исполнитель: студент гр. 4МО  А.К. Титовец
Руководитель: ст. преподаватель  А.А. Ягелло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Times New Roman"/>
              </a:rPr>
              <a:t>Благовещенск,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Введение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Цифровая трансформация жилищно-коммунального хозяйства является одним из приоритетных направлений государственной политики Российской Федерации. Указом Президента РФ от 9 мая 2017 г. № 203 утверждена Стратегия развития информационного общества на 2017–2030 годы.</a:t>
            </a:r>
          </a:p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Значительная часть жилого фонда городов Дальнего Востока, включая г. Благовещенск, представлена частными домовладениями, не подключёнными к централизованной канализации. Требования к услугам ассенизации установлены ФЗ № 89-ФЗ, СанПиН 2.1.3684-21 и ГОСТ Р 56195-2014.</a:t>
            </a:r>
          </a:p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В настоящее время вызов ассенизаторской машины производится по телефону либо через объявления. Потребитель не видит расписания и занятости техники. Отсутствуют средства электронной оплаты и подтверждения факта оказания услуги.</a:t>
            </a:r>
          </a:p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МАУ «Дорремстрой» оказывает услуги по вывозу ЖБО и заинтересовано в переходе на цифровые каналы приёма заявок. Внедрение системы позволит сократить время реакции, повысить прозрачность расчётов и обеспечить учёт оказанных услуг.</a:t>
            </a:r>
          </a:p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just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Актуальность темы работы определяется необходимостью создания специализированного программного средства, учитывающего особенности деятельности муниципального учреждения и требования российского законодательства в области защиты персональных данных.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Цель и задачи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Times New Roman"/>
              </a:rPr>
              <a:t>Цель работы: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300" b="0" i="0">
                <a:solidFill>
                  <a:srgbClr val="000000"/>
                </a:solidFill>
                <a:latin typeface="Times New Roman"/>
              </a:rPr>
              <a:t>Разработка кроссплатформенной информационной системы, состоящей из мобильного приложения для клиентов и исполнителей, а также веб-панели администратора, обеспечивающих автоматизацию приёма, обработки и сопровождения заявок на вызов ассенизаторского транспорта.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Times New Roman"/>
              </a:rPr>
              <a:t>Задачи: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42032"/>
            <a:ext cx="112745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выполнить анализ деятельности МАУ «Дорремстрой» и нормативно-правовой базы в сфере обращения с жидкими бытовыми отходами;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провести обзор существующих программных решений и обосновать целесообразность разработки собственной системы;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спроектировать архитектуру программного комплекса и структуру базы данных;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обосновать выбор стека технологий для кроссплатформенной реализации;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реализовать серверную часть, мобильное приложение и веб-панель администратора;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разработать комплекс организационных и технических мер защиты информации;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подготовить пакет юридически значимых документов: пользовательское соглашение, политику конфиденциальности и согласие на обработку персональных данных.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Обзор существующих решений и их недостатки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2834640" cy="47548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«Перевозка24»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572768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b="0" i="0">
                <a:solidFill>
                  <a:srgbClr val="000000"/>
                </a:solidFill>
                <a:latin typeface="Times New Roman"/>
              </a:rPr>
              <a:t>Агрегатор-доска объявлений. Нет собственной диспетчерской службы. Нет учёта операций для МБУ. С каждой сделки удерживается комиссия — непрогнозируемые расходы. Нет привязки к конкретному учреждению.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0984" y="1051560"/>
            <a:ext cx="2834640" cy="47548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4136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«ТМ:Спецтехника»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4136" y="1572768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b="0" i="0">
                <a:solidFill>
                  <a:srgbClr val="000000"/>
                </a:solidFill>
                <a:latin typeface="Times New Roman"/>
              </a:rPr>
              <a:t>Специализированное ПО для управления спецтехникой. Высокая стоимость лицензии. Нет публичного мобильного приложения для конечных клиентов — жителей частного сектора. Ориентировано на корпоративных заказчиков.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1051560"/>
            <a:ext cx="2834640" cy="47548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«1С: Управление
автотранспортом»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b="0" i="0">
                <a:solidFill>
                  <a:srgbClr val="000000"/>
                </a:solidFill>
                <a:latin typeface="Times New Roman"/>
              </a:rPr>
              <a:t>Платформа 1С:Предприятие. Нет мобильного приложения для клиентов. Сложная настройка и постоянное сопровождение специалистами. Требует значительных финансовых вложений. Не рассчитана на прямые обращения граждан.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54312" y="1051560"/>
            <a:ext cx="2834640" cy="47548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7464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ГЛОНАСС/GPS
(Wialon, Омникомм)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7464" y="1572768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b="0" i="0">
                <a:solidFill>
                  <a:srgbClr val="000000"/>
                </a:solidFill>
                <a:latin typeface="Times New Roman"/>
              </a:rPr>
              <a:t>Системы мониторинга транспорта. Отслеживают местоположение и расход топлива. Не принимают заявки от конечных потребителей. Не образуют замкнутого сервиса «заказ → исполнение → оплата».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0916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Сравнительная таблица по 5 критериям: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5120640"/>
          <a:ext cx="1072591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920240"/>
                <a:gridCol w="1737360"/>
                <a:gridCol w="2496312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Критерий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Перевозка24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ТМ:Спецтехника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1С:УА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Разрабатываемая
система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Ориентация на МБУ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Низкая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Высокая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Максимальная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Мобильное приложение для клиентов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Есть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Стоимость владения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Комиссия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Высокая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Высокая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Низкая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Работа в реальном времени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Архитектура системы — трёхзвенная модель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1143000"/>
            <a:ext cx="914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555555"/>
                </a:solidFill>
                <a:latin typeface="Times New Roman"/>
              </a:rPr>
              <a:t>Уровень
клиента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2560320"/>
            <a:ext cx="914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555555"/>
                </a:solidFill>
                <a:latin typeface="Times New Roman"/>
              </a:rPr>
              <a:t>Уровень
сервера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42519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555555"/>
                </a:solidFill>
                <a:latin typeface="Times New Roman"/>
              </a:rPr>
              <a:t>Уровень
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" y="53035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555555"/>
                </a:solidFill>
                <a:latin typeface="Times New Roman"/>
              </a:rPr>
              <a:t>Внешние
сервисы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115568"/>
            <a:ext cx="10789920" cy="114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1188720"/>
            <a:ext cx="4846320" cy="987552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2344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Times New Roman"/>
              </a:rPr>
              <a:t>Мобильное приложение
(React Native / Expo)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647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Times New Roman"/>
              </a:rPr>
              <a:t>Android  •  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188720"/>
            <a:ext cx="4846320" cy="987552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2344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Times New Roman"/>
              </a:rPr>
              <a:t>Веб-панель администратора
(React + Material-UI)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7647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Times New Roman"/>
              </a:rPr>
              <a:t>Браузер (SPA)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04288"/>
            <a:ext cx="13716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2304288"/>
            <a:ext cx="13716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304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Times New Roman"/>
              </a:rPr>
              <a:t>HTTP / WebSocket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2633472"/>
            <a:ext cx="10789920" cy="14173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2706624"/>
            <a:ext cx="2468880" cy="1261872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1872" y="2743200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Express.js
Routes + Middleware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310128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Times New Roman"/>
              </a:rPr>
              <a:t>Маршруты, JWT-проверка,
rate limiting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67912" y="2706624"/>
            <a:ext cx="2468880" cy="1261872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41064" y="2743200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Business Logic
(Services)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41064" y="3310128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Times New Roman"/>
              </a:rPr>
              <a:t>Обработка заказов,
расчёт стоимости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47104" y="2706624"/>
            <a:ext cx="2468880" cy="1261872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0256" y="2743200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Socket.IO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310128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Times New Roman"/>
              </a:rPr>
              <a:t>Уведомления
в реальном времени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26296" y="2706624"/>
            <a:ext cx="2468880" cy="1261872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8" y="2743200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Redis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3310128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Times New Roman"/>
              </a:rPr>
              <a:t>Кэш + ограничение
частоты запросов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4096512"/>
            <a:ext cx="137160" cy="22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4096512"/>
            <a:ext cx="137160" cy="22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40873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Times New Roman"/>
              </a:rPr>
              <a:t>SQL / node-postgres pool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" y="4370832"/>
            <a:ext cx="667512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88720" y="4425696"/>
            <a:ext cx="301752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61872" y="446227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PostgreSQL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1872" y="47731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Times New Roman"/>
              </a:rPr>
              <a:t>12 таблиц, UUID PK,
ON DELETE CASCADE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4425696"/>
            <a:ext cx="301752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3712" y="446227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Хранилище файлов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47731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Times New Roman"/>
              </a:rPr>
              <a:t>Логи (Winston),
резервные копии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370832"/>
            <a:ext cx="274320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02752" y="4425696"/>
            <a:ext cx="123444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446227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ЮKassa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479145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Times New Roman"/>
              </a:rPr>
              <a:t>Платежи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56064" y="4425696"/>
            <a:ext cx="123444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01784" y="446227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Firebase FCM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01784" y="479145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Times New Roman"/>
              </a:rPr>
              <a:t>Push-уведомления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3337560"/>
            <a:ext cx="822960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32004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Times New Roman"/>
              </a:rPr>
              <a:t>HTTPS 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5349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Times New Roman"/>
              </a:rPr>
              <a:t>Язык серверной и клиентской разработки: TypeScript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Ролевая модель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3566160" cy="47548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060704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Times New Roman"/>
              </a:rPr>
              <a:t>Клиент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Регистрация по email + код подтверждения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Создание заявки (объём, адрес, дата/время, комментарий)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Просмотр автоматической стоимости до подтверждения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Онлайн-оплата картой через ЮKassa или наличными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Отслеживание статуса заказа в реальном времени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Push-уведомления при каждом изменении статуса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История заказов и обращения в поддержку</a:t>
            </a:r>
          </a:p>
        </p:txBody>
      </p:sp>
      <p:sp>
        <p:nvSpPr>
          <p:cNvPr id="7" name="Rectangle 6"/>
          <p:cNvSpPr/>
          <p:nvPr/>
        </p:nvSpPr>
        <p:spPr>
          <a:xfrm>
            <a:off x="4096512" y="1024128"/>
            <a:ext cx="3566160" cy="47548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9664" y="1060704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Times New Roman"/>
              </a:rPr>
              <a:t>Исполнитель
(водитель)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155448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Регистрация с данными ТС (номер, объём цистерны)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Обязательная верификация администратором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Управление статусом смены (is_working = true/false)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Получение уведомлений о новых заказах (Firebase)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Принятие/отклонение предложенного заказа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Отметка этапов: В пути → Выполняется → Завершён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Просмотр баланса, заявки на вывод средств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18704" y="1024128"/>
            <a:ext cx="3566160" cy="47548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1060704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Times New Roman"/>
              </a:rPr>
              <a:t>Администратор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155448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Вход через двухэтапную аутентификацию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Мониторинг всех заказов, ручное изменение статусов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Верификация водителей, блокировка пользователей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Контроль финансовых операций и возвраты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Обработка заявок на вывод средств водителям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Переписка с пользователями в поддержке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Аналитика, отчёты, журнал событий безопасности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053328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14476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Проверка прав: JWT-middleware → поле role → requireRole("client"|"driver"|"admin") на каждом защищённом маршруте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Диаграмма вариантов использования — Клиент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Times New Roman"/>
              </a:rPr>
              <a:t>Рисунок 1 – Диаграмма вариантов использования для роли «Клиент»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7548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4960" y="12801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Times New Roman"/>
              </a:rPr>
              <a:t>Функции роли «Клиент»: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82496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Регистрация / вход по email + код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Создание заявки с расчётом стоимости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Выбор способа оплаты (карта / наличные)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Онлайн-оплата через ЮKassa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Отслеживание статуса в реальном времени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История заказов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Обращение в службу поддержки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Диаграмма вариантов использования — Исполнитель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Times New Roman"/>
              </a:rPr>
              <a:t>Рисунок 2 – Диаграмма вариантов использования для роли «Исполнитель»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7548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4960" y="12801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Times New Roman"/>
              </a:rPr>
              <a:t>Функции роли «Исполнитель»: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82496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Регистрация и передача данных о ТС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Верификация администратором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Управление статусом смены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Получение уведомлений о новых заказах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Принятие заказа (первый принявший)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Отметка выполнения работ по этапам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Просмотр баланса и запрос выплаты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Диаграмма вариантов использования — Администратор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Times New Roman"/>
              </a:rPr>
              <a:t>Рисунок 3 – Диаграмма вариантов использования для роли «Администратор»</a:t>
            </a:r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7548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4960" y="12801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Times New Roman"/>
              </a:rPr>
              <a:t>Функции роли «Администратор»: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82496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Управление учётными записями (CRUD)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Верификация исполнителей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Просмотр и редактирование всех заказов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Принудительное назначение исполнителя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Контроль платежей и возвраты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Переписка с пользователями</a:t>
            </a:r>
          </a:p>
          <a:p>
            <a:pPr algn="just"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– Аналитика и журнал событий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Стек технологий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2412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Times New Roman"/>
              </a:rPr>
              <a:t>Серверная часть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520440" cy="5074920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508760"/>
            <a:ext cx="3355848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Node.js 18 — платформа выполнения JS на сервере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TypeScript — статическая типизация, меньше ошибок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Express.js — HTTP-маршруты и middleware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PostgreSQL 15 — реляционная СУБД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node-postgres — пул соединений с БД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Redis — кэш + rate limiting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Socket.IO — двусторонняя связь в реальном времени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JWT (jsonwebtoken) — аутентификация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bcrypt — хэширование паролей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Winston — журналирование событий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ЮKassa SDK — приём платежей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dotenv — управление конфигурацией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2504" y="102412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Times New Roman"/>
              </a:rPr>
              <a:t>Мобильное приложение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032504" y="1463040"/>
            <a:ext cx="3520440" cy="5074920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42232" y="1508760"/>
            <a:ext cx="3355848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React Native — кроссплатформенный UI-фреймворк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Expo — сборка и деплой приложений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TypeScript — единый язык с серверной частью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Redux Toolkit — управление глобальным состоянием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React Navigation — навигация между экранами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Expo Secure Store — безопасное хранение JWT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Firebase Cloud Messaging — push-уведомления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Axios — HTTP-запросы к серверу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Целевые платформы: Android 6.0+, iOS 13.0+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02412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Times New Roman"/>
              </a:rPr>
              <a:t>Веб-панель
администратора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90688" y="1463040"/>
            <a:ext cx="3520440" cy="5074920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0416" y="1508760"/>
            <a:ext cx="3355848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React 18 — компонентный UI-фреймворк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Material-UI (MUI) — готовые UI-компоненты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Recharts — интерактивные диаграммы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Axios — HTTP-запросы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React Router — SPA-навигация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JWT — аутентификация в браузере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CSV-экспорт аналитики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Проектирование базы данных (PostgreSQL 15)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Times New Roman"/>
              </a:rPr>
              <a:t>Ключи: UUID | 12 таблиц | ON DELETE CASCADE | Нормализация до 3НФ | Пул соединений node-postgres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325880"/>
          <a:ext cx="9902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83080"/>
                <a:gridCol w="3474720"/>
                <a:gridCol w="309067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Таблица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Назначение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Ключевые поля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Связи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Все пользователи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id UUID PK, email, password_hash, role, is_blocked, is_active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client_profiles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Профиль клиента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user_id FK→users, city, street, house_number, saved_payment_methods JSONB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1:1 к users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executor_profiles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Профиль водителя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user_id FK→users, vehicle_number, vehicle_capacity, is_verified, is_working,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1:1 к users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Заявки на услугу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id, client_id FK, executor_id FK, status, scheduled_date/time, price, payment_type, 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N:1 к users (×2)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Транзакции ЮKassa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id, order_id FK→orders, amount, status, transaction_id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1:1 к orders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balance_operations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Операции по балансу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id, executor_id FK, amount, type (credit/debit)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N:1 к executor_profiles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Обращения в поддержку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id, user_id FK, subject, status (open/closed)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N:1 к users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ticket_messages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Сообщения в тикете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id, ticket_id FK, sender_id FK, body, created_at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N:1 к tickets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fcm_tokens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Push-токены Firebase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user_id FK, token TEXT, device_type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N:1 к users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webhook_log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Лог событий ЮKassa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id, event_type, payload JSONB, received_at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9788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200" b="0" i="0">
                <a:solidFill>
                  <a:srgbClr val="000000"/>
                </a:solidFill>
                <a:latin typeface="Times New Roman"/>
              </a:rPr>
              <a:t>Все запросы к БД параметризованы (SQL-injection prevention). Индексы на полях: orders.status, orders.client_id, executor_profiles.is_working.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Диаграмма классов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Times New Roman"/>
              </a:rPr>
              <a:t>Рисунок Б.2 – Диаграмма классов (Приложение Б)</a:t>
            </a:r>
          </a:p>
        </p:txBody>
      </p:sp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36" y="1024128"/>
            <a:ext cx="658368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0000"/>
                </a:solidFill>
                <a:latin typeface="Times New Roman"/>
              </a:rPr>
              <a:t>User — базовый класс | ClientProfile и ExecutorProfile расширяют его | Order — центральный элемент, связывает клиента и водителя | к Order привязаны: Payment, Notification, Ticket/Message, BalanceOperation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Реализация серверной части — архитектура и безопасность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Многослойная архитектура бэкенда: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828800" cy="56692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087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</a:rPr>
              <a:t>Принимают HTTP-запросы, направляют к контроллерам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1828800" cy="56692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945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</a:rPr>
              <a:t>JWT-проверка, авторизация по роли, rate limiting, логирование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828800" cy="56692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880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Controllers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8803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</a:rPr>
              <a:t>Валидация входных данных, вызов сервисов, формирование ответа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74720"/>
            <a:ext cx="1828800" cy="56692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566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5661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</a:rPr>
              <a:t>Бизнес-логика: расчёт цены, управление заказами, платежи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1828800" cy="56692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251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Repositories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2519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</a:rPr>
              <a:t>Параметризованные SQL-запросы через пул node-postgres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0241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Механизм аутентификации (без пароля):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417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1. Пользователь вводит email → POST /api/auth/send-code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90195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2. Сервер генерирует 6-значный OTP, сохраняет в Redis (TTL 5 мин)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38658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3. OTP отправляется на email (nodemailer)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71216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4. Пользователь вводит код → POST /api/auth/verify-code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35584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5. Сервер проверяет код в Redis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840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6. При совпадении — выдаётся JWT (payload: userId, role)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32511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7. Токен хранится в Expo Secure Store (мобильный) или httpOnly cookie (веб)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0974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8. При каждом запросе: middleware authenticate → verifyToken → findById → проверка is_blocked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294376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9. Middleware authorize → проверка role в payload JWT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77900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10. 5 неудачных попыток / 15 мин с одного IP → блокировка (express-rate-limit)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Обработка заказов и диаграмма последовательности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Times New Roman"/>
              </a:rPr>
              <a:t>Рисунок Б.3 – Диаграмма последовательности (Приложение Б)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512064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309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0000"/>
                </a:solidFill>
                <a:latin typeface="Times New Roman"/>
              </a:rPr>
              <a:t>Рисунок Б.3 – Диаграмма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02412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Жизненный цикл заказа (7 статусов):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417320"/>
            <a:ext cx="1691640" cy="530352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1490472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1. 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508760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Клиент создал заявку, оплата не поступила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2048256"/>
            <a:ext cx="1691640" cy="530352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2121408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2. searching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139696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Оплата подтверждена, уведомления всем водителям (is_working=true)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679192"/>
            <a:ext cx="1691640" cy="530352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752344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3. assigned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770632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Первый водитель принял → заказ закреплён за ним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3310128"/>
            <a:ext cx="1691640" cy="530352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383280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4. on_way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401568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Водитель нажал «Выехал»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3941064"/>
            <a:ext cx="1691640" cy="530352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4014216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5. in_progress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032504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Водитель на месте, работа выполняется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4572000"/>
            <a:ext cx="1691640" cy="530352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4645152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6. completed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663440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Завершение → ЮKassa списывает средства → 90% на баланс водителя, 10% — комиссия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5202936"/>
            <a:ext cx="1691640" cy="530352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5276088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7. cancelled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5294376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Отмена клиентом или администратором → возврат платежа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8978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Каждый переход → Socket.IO → мгновенное уведомление клиенту и водителю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Реализация мобильного приложения (React Native + Expo)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Структура навигации: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394960" cy="2560320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AuthStack: Login → Register → VerificationScreen → ForgotPassword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MainTabNavigator (нижнее меню):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   HomeScreen — статистика и последние заказы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   OrderStack: CreateOrder → OrderDetails → OrderHistory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   ProfileStack: EditProfile →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Форма создания заказа (createOrder):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62272"/>
            <a:ext cx="5303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Выбор объёма цистерны: 3 / 5 / 10 м³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Адрес: улица + номер дома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Дата и время подачи машины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Комментарий (глубина септика, проезд и т.д.)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Автоматический расчёт P = V × 600 руб./м³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Оплата картой (ЮKassa) или наличными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241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Для исполнителей: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Верификация: is_verified = true → допуск к заказам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Кнопка «Начать смену» → is_working = true в БД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Push-уведомление: новый заказ → детали → «Принять»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Первый принявший закрепляется как executor_id в orders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Кнопки: «Выехал» → «На месте» → «Завершить»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После завершения: баланс += N (90% от стоимости)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Заявка на вывод → обработка администратором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2519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Состояние приложения: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645152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Redux Toolkit — глобальное состояние (авторизация, заказы)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Expo Secure Store — безопасное хранение JWT-токена</a:t>
            </a:r>
          </a:p>
          <a:p>
            <a:pPr algn="just"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Times New Roman"/>
              </a:rPr>
              <a:t>– Socket.IO client — подписка на события заказа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03504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Единая кодовая база TypeScript → нативные сборки для Android (API 21+) и iOS (13.0+) через Expo EAS Build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Реализация веб-панели администратора (React + Material-UI)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5577840" cy="157276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/>
              </a:rPr>
              <a:t>/ Сводка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b="0" i="0">
                <a:solidFill>
                  <a:srgbClr val="000000"/>
                </a:solidFill>
                <a:latin typeface="Times New Roman"/>
              </a:rPr>
              <a:t>Карточки: активные заказы, платежи за день, открытые обращения. Графики динамики заказов и выручки за 7 дней (Recharts LineChart/BarChart). Таблица 5 последних заказов.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024128"/>
            <a:ext cx="5577840" cy="157276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53912" y="107899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/>
              </a:rPr>
              <a:t>/orders Заявки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912" y="1481328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b="0" i="0">
                <a:solidFill>
                  <a:srgbClr val="000000"/>
                </a:solidFill>
                <a:latin typeface="Times New Roman"/>
              </a:rPr>
              <a:t>Таблица всех заказов с фильтрами (статус, дата, клиент, исполнитель). Карточка заказа: история статусов, данные клиента, детали платежа. Ручная смена статуса, принудительное назначение водителя из списка свободных.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70048"/>
            <a:ext cx="5577840" cy="157276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2491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/>
              </a:rPr>
              <a:t>/users Пользователи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27248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b="0" i="0">
                <a:solidFill>
                  <a:srgbClr val="000000"/>
                </a:solidFill>
                <a:latin typeface="Times New Roman"/>
              </a:rPr>
              <a:t>Список с поиском по email/имени, фильтр по роли. Верификация водителей (is_verified = true). Блокировка/разблокировка (is_blocked). История заказов клиента или выплат водителя.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2472" y="2670048"/>
            <a:ext cx="5577840" cy="157276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272491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/>
              </a:rPr>
              <a:t>/payments Платежи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3127248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b="0" i="0">
                <a:solidFill>
                  <a:srgbClr val="000000"/>
                </a:solidFill>
                <a:latin typeface="Times New Roman"/>
              </a:rPr>
              <a:t>Транзакции ЮKassa: статус, сумма, дата. Детали платежа с transaction_id. Ручная корректировка статуса. Инициирование возврата. Вкладка «Выплаты»: заявки водителей, подтверждение вывода средств.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15968"/>
            <a:ext cx="5577840" cy="157276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37083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/>
              </a:rPr>
              <a:t>/support Поддержка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73168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b="0" i="0">
                <a:solidFill>
                  <a:srgbClr val="000000"/>
                </a:solidFill>
                <a:latin typeface="Times New Roman"/>
              </a:rPr>
              <a:t>Таблица тикетов (открыт/решён). Интерфейс переписки: сообщения в хронологии. Ответ администратора → push-уведомление пользователю. Закрытие тикета.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4315968"/>
            <a:ext cx="5577840" cy="1572768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437083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/>
              </a:rPr>
              <a:t>/analytics Аналитика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4773168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b="0" i="0">
                <a:solidFill>
                  <a:srgbClr val="000000"/>
                </a:solidFill>
                <a:latin typeface="Times New Roman"/>
              </a:rPr>
              <a:t>BarChart заказов по дням/неделям/месяцам. LineChart выручки. Таблица топ-исполнителей. PieChart по статусам заказов. Экспорт в CSV для отчётности.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98932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Вход: email → OTP-код → JWT | Все операции администратора логируются (РСБ.5)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Информационная безопасность (УЗ-4)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Основание: ИСПДн | ПП РФ № 1119 от 01.11.2012 | Приказ ФСТЭК № 21 от 18.02.2013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89888"/>
          <a:ext cx="11640312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816559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Мера (ФСТЭК)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Реализация в системе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ИАФ.1/ИАФ.6 — Идентификация и аутентификация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Email + одноразовый OTP-код (Redis TTL 5 мин). Токен JWT с userId и role.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УПД.1 — Управление учётными записями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Создание, блокировка (is_blocked), удаление через веб-панель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УПД.2 — Разграничение доступа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Ролевая модель: client / driver / admin. Проверка role в JWT при каждом запросе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УПД.6 — Ограничение неудачных попыток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express-rate-limit: 5 попыток / 15 мин с одного IP-адреса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УПД.13 — Защищённый удалённый доступ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TLS 1.2/1.3 + принудительный редирект HTTP→HTTPS + заголовок HSTS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РСБ.1/3/5 — Регистрация событий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Winston: успешные/неуспешные входы, платежи, изменения статусов. Хранение ≥ 3 мес.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АВЗ — Антивирусная защита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Dr.Web Enterprise Security Suite, сертификат ФСТЭК, 2-й класс защиты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ЗИС — Защита системы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Параметризованные SQL-запросы, HTTP security headers (helmet), CORS-политика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94360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0000"/>
                </a:solidFill>
                <a:latin typeface="Times New Roman"/>
              </a:rPr>
              <a:t>Документы (Приложения Г, Д, Е): Пользовательское соглашение | Политика конфиденциальности | Согласие на обработку ПДн (Приказ Роскомнадзора № 18)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Заключение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Настоящая дипломная работа посвящена разработке и внедрению автоматизированной кроссплатформенной информационной системы, предназначенной для оптимизации процессов приёма, обработки и выполнения заявок на вызов специализированной техники в МАУ «Дорремстрой».</a:t>
            </a:r>
          </a:p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Проведён всесторонний анализ предметной области, выявлены ключевые проблемы существующих бизнес-процессов. Сравнительный анализ аналогов подтвердил уникальность и актуальность выбранного подхода. Изучение нормативно-правовой базы обеспечило соответствие системы действующему законодательству.</a:t>
            </a:r>
          </a:p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Разработана трёхзвенная архитектура системы. Выбор стека (React Native, Node.js, PostgreSQL) обеспечил производительность, масштабируемость и гибкость. Спроектированы диаграммы классов и последовательности. Реализованы серверная часть, мобильное приложение для двух ролей и веб-панель администратора с шестью разделами.</a:t>
            </a:r>
          </a:p>
          <a:p>
            <a:pPr algn="just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just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В результате создана полноценная информационная система, способная значительно улучшить оперативность и качество предоставления услуг по вывозу жидких бытовых отходов. Внедрение позволит МАУ «Дорремстрой» повысить прозрачность учёта, сократить время обработки заявок и оптимизировать использование ресурсов.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2316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Times New Roman"/>
              </a:rPr>
              <a:t>Готова ответить на вопросы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434840"/>
            <a:ext cx="112745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Times New Roman"/>
              </a:rPr>
              <a:t>Титовец Анастасия Константиновна
БГПУ, ФФМОиТ, группа 4МО,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